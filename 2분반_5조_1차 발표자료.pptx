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210 옴니고딕" charset="1" panose="02020603020101020101"/>
      <p:regular r:id="rId16"/>
    </p:embeddedFont>
    <p:embeddedFont>
      <p:font typeface="Telegraf" charset="1" panose="00000500000000000000"/>
      <p:regular r:id="rId17"/>
    </p:embeddedFont>
    <p:embeddedFont>
      <p:font typeface="The Seasons" charset="1" panose="00000000000000000000"/>
      <p:regular r:id="rId18"/>
    </p:embeddedFont>
    <p:embeddedFont>
      <p:font typeface="Arimo" charset="1" panose="020B0604020202020204"/>
      <p:regular r:id="rId19"/>
    </p:embeddedFont>
    <p:embeddedFont>
      <p:font typeface="Arial Bold" charset="1" panose="020B0704020202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https://doi.org/10.8080/1020170171336" TargetMode="External" Type="http://schemas.openxmlformats.org/officeDocument/2006/relationships/hyperlink"/><Relationship Id="rId5" Target="../media/image10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45606" y="2031995"/>
            <a:ext cx="196788" cy="19678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028700" y="908685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3414100" y="4254398"/>
            <a:ext cx="11459799" cy="1212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  <a:spcBef>
                <a:spcPct val="0"/>
              </a:spcBef>
            </a:pPr>
            <a:r>
              <a:rPr lang="en-US" sz="7000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창의제품설계 1차 발표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14100" y="5648223"/>
            <a:ext cx="11459799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Project AIRLIFT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214141" y="2230867"/>
            <a:ext cx="5859719" cy="58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TEAM: 오합지존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322220"/>
            <a:ext cx="4870574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2025년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88726" y="9331745"/>
            <a:ext cx="4870574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Contents | 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388726" y="9331745"/>
            <a:ext cx="4870574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Contents | 2</a:t>
            </a:r>
          </a:p>
        </p:txBody>
      </p:sp>
      <p:sp>
        <p:nvSpPr>
          <p:cNvPr name="AutoShape 3" id="3"/>
          <p:cNvSpPr/>
          <p:nvPr/>
        </p:nvSpPr>
        <p:spPr>
          <a:xfrm>
            <a:off x="1028700" y="908685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3414100" y="1292002"/>
            <a:ext cx="11459799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목차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045606" y="930306"/>
            <a:ext cx="196788" cy="19678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937610" y="3254142"/>
            <a:ext cx="1020237" cy="555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0"/>
              </a:lnSpc>
              <a:spcBef>
                <a:spcPct val="0"/>
              </a:spcBef>
            </a:pPr>
            <a:r>
              <a:rPr lang="en-US" sz="3207">
                <a:solidFill>
                  <a:srgbClr val="8C52FF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957847" y="3254142"/>
            <a:ext cx="3793726" cy="555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0"/>
              </a:lnSpc>
              <a:spcBef>
                <a:spcPct val="0"/>
              </a:spcBef>
            </a:pPr>
            <a:r>
              <a:rPr lang="en-US" sz="3207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Brain Storming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51574" y="3316621"/>
            <a:ext cx="9507726" cy="440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2"/>
              </a:lnSpc>
              <a:spcBef>
                <a:spcPct val="0"/>
              </a:spcBef>
            </a:pPr>
            <a:r>
              <a:rPr lang="en-US" sz="2565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다양한 의견 제출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37610" y="4306329"/>
            <a:ext cx="1020237" cy="555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0"/>
              </a:lnSpc>
              <a:spcBef>
                <a:spcPct val="0"/>
              </a:spcBef>
            </a:pPr>
            <a:r>
              <a:rPr lang="en-US" sz="3207">
                <a:solidFill>
                  <a:srgbClr val="8C52FF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957847" y="4306329"/>
            <a:ext cx="3793726" cy="555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0"/>
              </a:lnSpc>
              <a:spcBef>
                <a:spcPct val="0"/>
              </a:spcBef>
            </a:pPr>
            <a:r>
              <a:rPr lang="en-US" sz="3207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AIRLIFT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751574" y="4368808"/>
            <a:ext cx="9507726" cy="440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2"/>
              </a:lnSpc>
              <a:spcBef>
                <a:spcPct val="0"/>
              </a:spcBef>
            </a:pPr>
            <a:r>
              <a:rPr lang="en-US" sz="2565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모두가 편리하게 사용할 수 있는 건조대 제조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937610" y="5358516"/>
            <a:ext cx="1020237" cy="555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0"/>
              </a:lnSpc>
              <a:spcBef>
                <a:spcPct val="0"/>
              </a:spcBef>
            </a:pPr>
            <a:r>
              <a:rPr lang="en-US" sz="3207">
                <a:solidFill>
                  <a:srgbClr val="8C52FF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03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957847" y="5358516"/>
            <a:ext cx="3793726" cy="555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0"/>
              </a:lnSpc>
              <a:spcBef>
                <a:spcPct val="0"/>
              </a:spcBef>
            </a:pPr>
            <a:r>
              <a:rPr lang="en-US" sz="3207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시장 분석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751574" y="5420995"/>
            <a:ext cx="9507726" cy="440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2"/>
              </a:lnSpc>
              <a:spcBef>
                <a:spcPct val="0"/>
              </a:spcBef>
            </a:pPr>
            <a:r>
              <a:rPr lang="en-US" sz="2565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설문 조사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937610" y="6410702"/>
            <a:ext cx="1020237" cy="555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0"/>
              </a:lnSpc>
              <a:spcBef>
                <a:spcPct val="0"/>
              </a:spcBef>
            </a:pPr>
            <a:r>
              <a:rPr lang="en-US" sz="3207">
                <a:solidFill>
                  <a:srgbClr val="8C52FF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04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957847" y="6410702"/>
            <a:ext cx="3793726" cy="555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0"/>
              </a:lnSpc>
              <a:spcBef>
                <a:spcPct val="0"/>
              </a:spcBef>
            </a:pPr>
            <a:r>
              <a:rPr lang="en-US" sz="3207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제품성 분석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751574" y="6473181"/>
            <a:ext cx="9507726" cy="440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2"/>
              </a:lnSpc>
              <a:spcBef>
                <a:spcPct val="0"/>
              </a:spcBef>
            </a:pPr>
            <a:r>
              <a:rPr lang="en-US" sz="2565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AIRLIFT만의 장점 분석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9322220"/>
            <a:ext cx="4870574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2025년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08685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9045606" y="930306"/>
            <a:ext cx="196788" cy="19678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2388726" y="9331745"/>
            <a:ext cx="4870574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 프로젝트 개요 | 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14100" y="1292002"/>
            <a:ext cx="11459799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Brain Storming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9322220"/>
            <a:ext cx="4870574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2025년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5400000">
            <a:off x="2926321" y="5394732"/>
            <a:ext cx="7072853" cy="311383"/>
          </a:xfrm>
          <a:custGeom>
            <a:avLst/>
            <a:gdLst/>
            <a:ahLst/>
            <a:cxnLst/>
            <a:rect r="r" b="b" t="t" l="l"/>
            <a:pathLst>
              <a:path h="311383" w="7072853">
                <a:moveTo>
                  <a:pt x="0" y="0"/>
                </a:moveTo>
                <a:lnTo>
                  <a:pt x="7072853" y="0"/>
                </a:lnTo>
                <a:lnTo>
                  <a:pt x="7072853" y="311383"/>
                </a:lnTo>
                <a:lnTo>
                  <a:pt x="0" y="3113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1440" y="9930780"/>
            <a:ext cx="7647228" cy="298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003876"/>
                </a:solidFill>
                <a:latin typeface="Arimo"/>
                <a:ea typeface="Arimo"/>
                <a:cs typeface="Arimo"/>
                <a:sym typeface="Arimo"/>
              </a:rPr>
              <a:t>p. ‹#›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5400000">
            <a:off x="8570534" y="5394732"/>
            <a:ext cx="7072853" cy="311383"/>
          </a:xfrm>
          <a:custGeom>
            <a:avLst/>
            <a:gdLst/>
            <a:ahLst/>
            <a:cxnLst/>
            <a:rect r="r" b="b" t="t" l="l"/>
            <a:pathLst>
              <a:path h="311383" w="7072853">
                <a:moveTo>
                  <a:pt x="0" y="0"/>
                </a:moveTo>
                <a:lnTo>
                  <a:pt x="7072853" y="0"/>
                </a:lnTo>
                <a:lnTo>
                  <a:pt x="7072853" y="311383"/>
                </a:lnTo>
                <a:lnTo>
                  <a:pt x="0" y="3113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616926" y="2253448"/>
            <a:ext cx="3827190" cy="7686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39"/>
              </a:lnSpc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•자동환기시스템</a:t>
            </a:r>
          </a:p>
          <a:p>
            <a:pPr algn="just">
              <a:lnSpc>
                <a:spcPts val="2639"/>
              </a:lnSpc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</a:t>
            </a:r>
            <a:r>
              <a:rPr lang="en-US" b="true" sz="2199">
                <a:solidFill>
                  <a:srgbClr val="FF5757"/>
                </a:solidFill>
                <a:latin typeface="Arial Bold"/>
                <a:ea typeface="Arial Bold"/>
                <a:cs typeface="Arial Bold"/>
                <a:sym typeface="Arial Bold"/>
              </a:rPr>
              <a:t>각도조절 우산</a:t>
            </a:r>
          </a:p>
          <a:p>
            <a:pPr algn="just">
              <a:lnSpc>
                <a:spcPts val="2639"/>
              </a:lnSpc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•안전한 전동킥보드</a:t>
            </a:r>
          </a:p>
          <a:p>
            <a:pPr algn="just">
              <a:lnSpc>
                <a:spcPts val="2639"/>
              </a:lnSpc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•높이/구조조정 베개</a:t>
            </a:r>
          </a:p>
          <a:p>
            <a:pPr algn="just">
              <a:lnSpc>
                <a:spcPts val="2639"/>
              </a:lnSpc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•유리병 벽 긁어내주는 기계</a:t>
            </a:r>
          </a:p>
          <a:p>
            <a:pPr algn="just">
              <a:lnSpc>
                <a:spcPts val="2639"/>
              </a:lnSpc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•높이조절 유리병</a:t>
            </a:r>
          </a:p>
          <a:p>
            <a:pPr algn="just">
              <a:lnSpc>
                <a:spcPts val="2639"/>
              </a:lnSpc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•전기자전거로 만들어주는 기계</a:t>
            </a:r>
          </a:p>
          <a:p>
            <a:pPr algn="just">
              <a:lnSpc>
                <a:spcPts val="2639"/>
              </a:lnSpc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•2인승 캐리어</a:t>
            </a:r>
          </a:p>
          <a:p>
            <a:pPr algn="just">
              <a:lnSpc>
                <a:spcPts val="2639"/>
              </a:lnSpc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•드론 무력화 기계</a:t>
            </a:r>
          </a:p>
          <a:p>
            <a:pPr algn="just">
              <a:lnSpc>
                <a:spcPts val="2639"/>
              </a:lnSpc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</a:t>
            </a:r>
            <a:r>
              <a:rPr lang="en-US" b="true" sz="2199">
                <a:solidFill>
                  <a:srgbClr val="FF5757"/>
                </a:solidFill>
                <a:latin typeface="Arial Bold"/>
                <a:ea typeface="Arial Bold"/>
                <a:cs typeface="Arial Bold"/>
                <a:sym typeface="Arial Bold"/>
              </a:rPr>
              <a:t>스마트 건조대</a:t>
            </a:r>
          </a:p>
          <a:p>
            <a:pPr algn="just">
              <a:lnSpc>
                <a:spcPts val="2639"/>
              </a:lnSpc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•뒤집어주는 건조대</a:t>
            </a:r>
          </a:p>
          <a:p>
            <a:pPr algn="just">
              <a:lnSpc>
                <a:spcPts val="2639"/>
              </a:lnSpc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•자전거 체인 청소기</a:t>
            </a:r>
          </a:p>
          <a:p>
            <a:pPr algn="just">
              <a:lnSpc>
                <a:spcPts val="2639"/>
              </a:lnSpc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•맥주따라주는 기계</a:t>
            </a:r>
          </a:p>
          <a:p>
            <a:pPr algn="just">
              <a:lnSpc>
                <a:spcPts val="2639"/>
              </a:lnSpc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•스마트 의자</a:t>
            </a:r>
          </a:p>
          <a:p>
            <a:pPr algn="just">
              <a:lnSpc>
                <a:spcPts val="2639"/>
              </a:lnSpc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•각도조절 우산/양산</a:t>
            </a:r>
          </a:p>
          <a:p>
            <a:pPr algn="just">
              <a:lnSpc>
                <a:spcPts val="2639"/>
              </a:lnSpc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•휴대폰 nfc 중복 문제 해결</a:t>
            </a:r>
          </a:p>
          <a:p>
            <a:pPr algn="just">
              <a:lnSpc>
                <a:spcPts val="2639"/>
              </a:lnSpc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•손잡이 위치가 조정되는 가방</a:t>
            </a:r>
          </a:p>
          <a:p>
            <a:pPr algn="just">
              <a:lnSpc>
                <a:spcPts val="2639"/>
              </a:lnSpc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•전선용 트랙</a:t>
            </a:r>
          </a:p>
          <a:p>
            <a:pPr algn="just">
              <a:lnSpc>
                <a:spcPts val="2639"/>
              </a:lnSpc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•플라스틱 컵 전용 쓰레기통</a:t>
            </a:r>
          </a:p>
          <a:p>
            <a:pPr algn="just">
              <a:lnSpc>
                <a:spcPts val="2639"/>
              </a:lnSpc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•작은 벌레도 막을 수 있는 방충망</a:t>
            </a:r>
          </a:p>
          <a:p>
            <a:pPr algn="just">
              <a:lnSpc>
                <a:spcPts val="2639"/>
              </a:lnSpc>
            </a:pPr>
          </a:p>
          <a:p>
            <a:pPr algn="just">
              <a:lnSpc>
                <a:spcPts val="2639"/>
              </a:lnSpc>
            </a:pPr>
          </a:p>
          <a:p>
            <a:pPr algn="just">
              <a:lnSpc>
                <a:spcPts val="263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2977027" y="1920073"/>
            <a:ext cx="5141056" cy="701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  <a:spcBef>
                <a:spcPct val="0"/>
              </a:spcBef>
            </a:pP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•전기 방충망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•깨워주는 침대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•움직이는 침대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•드라이어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•물놀이용 귀마개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•옷 살균기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</a:t>
            </a:r>
            <a:r>
              <a:rPr lang="en-US" b="true" sz="2199">
                <a:solidFill>
                  <a:srgbClr val="FF5757"/>
                </a:solidFill>
                <a:latin typeface="Arial Bold"/>
                <a:ea typeface="Arial Bold"/>
                <a:cs typeface="Arial Bold"/>
                <a:sym typeface="Arial Bold"/>
              </a:rPr>
              <a:t>발 건조기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•신발 신고 쓸 수 있는 발 건조기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•선풍기 달린 신발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•자동 옷 수선기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•상시부착 개목줄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•휴대용 에어백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•음료 믹스 프로펠러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•자동 과일 손질기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•글씨 보조장치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•휠체어+목발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</a:t>
            </a:r>
            <a:r>
              <a:rPr lang="en-US" b="true" sz="2199">
                <a:solidFill>
                  <a:srgbClr val="FF5757"/>
                </a:solidFill>
                <a:latin typeface="Arial Bold"/>
                <a:ea typeface="Arial Bold"/>
                <a:cs typeface="Arial Bold"/>
                <a:sym typeface="Arial Bold"/>
              </a:rPr>
              <a:t>이동식 가로등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</a:t>
            </a:r>
            <a:r>
              <a:rPr lang="en-US" b="true" sz="2199">
                <a:solidFill>
                  <a:srgbClr val="FF5757"/>
                </a:solidFill>
                <a:latin typeface="Arial Bold"/>
                <a:ea typeface="Arial Bold"/>
                <a:cs typeface="Arial Bold"/>
                <a:sym typeface="Arial Bold"/>
              </a:rPr>
              <a:t>트레이 채로 서빙하는 로봇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•단추 채워주는 기계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7051030" y="2457663"/>
            <a:ext cx="4185940" cy="701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•자전거용 소형 발전기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•간이 비데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•CPR 보조기구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•내릴 역을 알려주는 의자/손잡이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•세기와 박자 알려주는 자동제세동기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•외발 자전거용 보조 바퀴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•자전거 넘어짐 방지용 보조 기구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•침낭이 되는 가방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•얼음 래핑 기계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•삼각김밥 껍질 벗겨주는 기계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•원래 자리로 돌아가는 의자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•신발 부착용 바퀴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•우산 감아주는 기계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•안경 닦아주는 기계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•와이퍼 달린 안경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•장애인 이동 기기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•빨래 개주는 건조대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•올인원 청소기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•스마트 쓰레기통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</a:p>
          <a:p>
            <a:pPr algn="l">
              <a:lnSpc>
                <a:spcPts val="26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45606" y="930306"/>
            <a:ext cx="196788" cy="19678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800560"/>
            <a:ext cx="14034598" cy="95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86"/>
              </a:lnSpc>
            </a:pPr>
            <a:r>
              <a:rPr lang="en-US" sz="6052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Brain Storming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81075"/>
            <a:ext cx="8091140" cy="389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7"/>
              </a:lnSpc>
              <a:spcBef>
                <a:spcPct val="0"/>
              </a:spcBef>
            </a:pPr>
            <a:r>
              <a:rPr lang="en-US" sz="2298" spc="-82">
                <a:solidFill>
                  <a:srgbClr val="8C52FF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Decision Matrix</a:t>
            </a:r>
          </a:p>
        </p:txBody>
      </p:sp>
      <p:sp>
        <p:nvSpPr>
          <p:cNvPr name="AutoShape 7" id="7"/>
          <p:cNvSpPr/>
          <p:nvPr/>
        </p:nvSpPr>
        <p:spPr>
          <a:xfrm rot="0">
            <a:off x="1028700" y="1515576"/>
            <a:ext cx="16230600" cy="64082"/>
          </a:xfrm>
          <a:prstGeom prst="rect">
            <a:avLst/>
          </a:prstGeom>
          <a:solidFill>
            <a:srgbClr val="000000"/>
          </a:solidFill>
        </p:spPr>
      </p:sp>
      <p:sp>
        <p:nvSpPr>
          <p:cNvPr name="AutoShape 8" id="8"/>
          <p:cNvSpPr/>
          <p:nvPr/>
        </p:nvSpPr>
        <p:spPr>
          <a:xfrm>
            <a:off x="1028700" y="8621452"/>
            <a:ext cx="16243484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3913250"/>
            <a:ext cx="16243484" cy="4121784"/>
          </a:xfrm>
          <a:custGeom>
            <a:avLst/>
            <a:gdLst/>
            <a:ahLst/>
            <a:cxnLst/>
            <a:rect r="r" b="b" t="t" l="l"/>
            <a:pathLst>
              <a:path h="4121784" w="16243484">
                <a:moveTo>
                  <a:pt x="0" y="0"/>
                </a:moveTo>
                <a:lnTo>
                  <a:pt x="16243484" y="0"/>
                </a:lnTo>
                <a:lnTo>
                  <a:pt x="16243484" y="4121785"/>
                </a:lnTo>
                <a:lnTo>
                  <a:pt x="0" y="41217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0" id="10"/>
          <p:cNvSpPr txBox="true"/>
          <p:nvPr/>
        </p:nvSpPr>
        <p:spPr>
          <a:xfrm rot="0">
            <a:off x="12388726" y="9331745"/>
            <a:ext cx="4870574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 프로젝트 개요 | 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9322220"/>
            <a:ext cx="4870574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2025년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45606" y="930306"/>
            <a:ext cx="196788" cy="19678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14304" y="0"/>
            <a:ext cx="10973696" cy="10287000"/>
            <a:chOff x="0" y="0"/>
            <a:chExt cx="2890191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9019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890191">
                  <a:moveTo>
                    <a:pt x="0" y="0"/>
                  </a:moveTo>
                  <a:lnTo>
                    <a:pt x="2890191" y="0"/>
                  </a:lnTo>
                  <a:lnTo>
                    <a:pt x="289019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AF8E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890191" cy="2756958"/>
            </a:xfrm>
            <a:prstGeom prst="rect">
              <a:avLst/>
            </a:prstGeom>
          </p:spPr>
          <p:txBody>
            <a:bodyPr anchor="ctr" rtlCol="false" tIns="76200" lIns="76200" bIns="76200" rIns="762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4304" y="930306"/>
            <a:ext cx="10973696" cy="7636866"/>
            <a:chOff x="0" y="0"/>
            <a:chExt cx="5315953" cy="3699503"/>
          </a:xfrm>
        </p:grpSpPr>
        <p:sp>
          <p:nvSpPr>
            <p:cNvPr name="Freeform 9" id="9" descr="https://lh7-rt.googleusercontent.com/formsz/AN7BsVBbExdJbeMy-rJgL3tqr4hk-51EBf_nxh_RAWKj5M9I3TMF6-j0CIS849-L0zNLS8CgjzRkB4GmNPa9ZLup9bHVrwlWafivqPh7dpNaXs88tf7BHKnREzSQpJxFPe92QGFXw_CyXKrbRB66NwLIKpoeQCfV43mUBkZGcQ?key=aTORMHDfgnoHoGfI59wBww"/>
            <p:cNvSpPr/>
            <p:nvPr/>
          </p:nvSpPr>
          <p:spPr>
            <a:xfrm flipH="false" flipV="false" rot="0">
              <a:off x="0" y="0"/>
              <a:ext cx="5315953" cy="3699503"/>
            </a:xfrm>
            <a:custGeom>
              <a:avLst/>
              <a:gdLst/>
              <a:ahLst/>
              <a:cxnLst/>
              <a:rect r="r" b="b" t="t" l="l"/>
              <a:pathLst>
                <a:path h="3699503" w="5315953">
                  <a:moveTo>
                    <a:pt x="0" y="0"/>
                  </a:moveTo>
                  <a:lnTo>
                    <a:pt x="4100584" y="0"/>
                  </a:lnTo>
                  <a:cubicBezTo>
                    <a:pt x="4770991" y="0"/>
                    <a:pt x="5315953" y="379253"/>
                    <a:pt x="5315953" y="845805"/>
                  </a:cubicBezTo>
                  <a:lnTo>
                    <a:pt x="5315953" y="3699503"/>
                  </a:lnTo>
                  <a:lnTo>
                    <a:pt x="0" y="36995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177" t="0" r="-4177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57023" y="4129181"/>
            <a:ext cx="6468137" cy="2028638"/>
            <a:chOff x="0" y="0"/>
            <a:chExt cx="8624183" cy="270485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76200"/>
              <a:ext cx="8624183" cy="16073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9124"/>
                </a:lnSpc>
              </a:pPr>
              <a:r>
                <a:rPr lang="en-US" sz="8295">
                  <a:solidFill>
                    <a:srgbClr val="000000"/>
                  </a:solidFill>
                  <a:latin typeface="210 옴니고딕"/>
                  <a:ea typeface="210 옴니고딕"/>
                  <a:cs typeface="210 옴니고딕"/>
                  <a:sym typeface="210 옴니고딕"/>
                </a:rPr>
                <a:t>AIRLIFT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2010097"/>
              <a:ext cx="8624183" cy="6947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354"/>
                </a:lnSpc>
              </a:pPr>
              <a:r>
                <a:rPr lang="en-US" sz="3110" spc="-111">
                  <a:solidFill>
                    <a:srgbClr val="8C52FF"/>
                  </a:solidFill>
                  <a:latin typeface="210 옴니고딕"/>
                  <a:ea typeface="210 옴니고딕"/>
                  <a:cs typeface="210 옴니고딕"/>
                  <a:sym typeface="210 옴니고딕"/>
                </a:rPr>
                <a:t>스마트 건조대 구상도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2388726" y="9331745"/>
            <a:ext cx="4870574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 프로젝트 목표 | 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9322220"/>
            <a:ext cx="4870574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2025년</a:t>
            </a:r>
          </a:p>
        </p:txBody>
      </p:sp>
      <p:sp>
        <p:nvSpPr>
          <p:cNvPr name="AutoShape 15" id="15"/>
          <p:cNvSpPr/>
          <p:nvPr/>
        </p:nvSpPr>
        <p:spPr>
          <a:xfrm>
            <a:off x="1028700" y="8621452"/>
            <a:ext cx="16243484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08685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9045606" y="930306"/>
            <a:ext cx="196788" cy="19678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797548" y="4837351"/>
            <a:ext cx="5240626" cy="3708031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756177" y="4315697"/>
            <a:ext cx="6447970" cy="4330297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219879" y="4512385"/>
            <a:ext cx="4411495" cy="4018837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2388726" y="9331745"/>
            <a:ext cx="4870574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 프로젝트 목표 | 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414100" y="1292002"/>
            <a:ext cx="11459799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시장 분석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961792" y="6396047"/>
            <a:ext cx="912139" cy="5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천장의</a:t>
            </a:r>
          </a:p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높낮이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628155" y="6433220"/>
            <a:ext cx="1069709" cy="5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주 사용자의</a:t>
            </a:r>
          </a:p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키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452089" y="6396047"/>
            <a:ext cx="912139" cy="5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건조대</a:t>
            </a:r>
          </a:p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종류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59197" y="3272555"/>
            <a:ext cx="6783197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spc="-108">
                <a:solidFill>
                  <a:srgbClr val="8C52FF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총 36명의 응답자에 따른 설문조사 결과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9322220"/>
            <a:ext cx="4870574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2025년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08685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9045606" y="930306"/>
            <a:ext cx="196788" cy="19678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074177" y="3742239"/>
            <a:ext cx="1945998" cy="1873611"/>
            <a:chOff x="0" y="0"/>
            <a:chExt cx="512526" cy="4934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2526" cy="493461"/>
            </a:xfrm>
            <a:custGeom>
              <a:avLst/>
              <a:gdLst/>
              <a:ahLst/>
              <a:cxnLst/>
              <a:rect r="r" b="b" t="t" l="l"/>
              <a:pathLst>
                <a:path h="493461" w="512526">
                  <a:moveTo>
                    <a:pt x="0" y="0"/>
                  </a:moveTo>
                  <a:lnTo>
                    <a:pt x="512526" y="0"/>
                  </a:lnTo>
                  <a:lnTo>
                    <a:pt x="512526" y="493461"/>
                  </a:lnTo>
                  <a:lnTo>
                    <a:pt x="0" y="4934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512526" cy="5696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210 옴니고딕"/>
                  <a:ea typeface="210 옴니고딕"/>
                  <a:cs typeface="210 옴니고딕"/>
                  <a:sym typeface="210 옴니고딕"/>
                </a:rPr>
                <a:t>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074177" y="5996850"/>
            <a:ext cx="1945998" cy="1873611"/>
            <a:chOff x="0" y="0"/>
            <a:chExt cx="512526" cy="49346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12526" cy="493461"/>
            </a:xfrm>
            <a:custGeom>
              <a:avLst/>
              <a:gdLst/>
              <a:ahLst/>
              <a:cxnLst/>
              <a:rect r="r" b="b" t="t" l="l"/>
              <a:pathLst>
                <a:path h="493461" w="512526">
                  <a:moveTo>
                    <a:pt x="0" y="0"/>
                  </a:moveTo>
                  <a:lnTo>
                    <a:pt x="512526" y="0"/>
                  </a:lnTo>
                  <a:lnTo>
                    <a:pt x="512526" y="493461"/>
                  </a:lnTo>
                  <a:lnTo>
                    <a:pt x="0" y="4934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512526" cy="5696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210 옴니고딕"/>
                  <a:ea typeface="210 옴니고딕"/>
                  <a:cs typeface="210 옴니고딕"/>
                  <a:sym typeface="210 옴니고딕"/>
                </a:rPr>
                <a:t>3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67825" y="3742239"/>
            <a:ext cx="1945998" cy="1873611"/>
            <a:chOff x="0" y="0"/>
            <a:chExt cx="512526" cy="49346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2526" cy="493461"/>
            </a:xfrm>
            <a:custGeom>
              <a:avLst/>
              <a:gdLst/>
              <a:ahLst/>
              <a:cxnLst/>
              <a:rect r="r" b="b" t="t" l="l"/>
              <a:pathLst>
                <a:path h="493461" w="512526">
                  <a:moveTo>
                    <a:pt x="0" y="0"/>
                  </a:moveTo>
                  <a:lnTo>
                    <a:pt x="512526" y="0"/>
                  </a:lnTo>
                  <a:lnTo>
                    <a:pt x="512526" y="493461"/>
                  </a:lnTo>
                  <a:lnTo>
                    <a:pt x="0" y="4934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512526" cy="5696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210 옴니고딕"/>
                  <a:ea typeface="210 옴니고딕"/>
                  <a:cs typeface="210 옴니고딕"/>
                  <a:sym typeface="210 옴니고딕"/>
                </a:rPr>
                <a:t>2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267825" y="5996850"/>
            <a:ext cx="1945998" cy="1873611"/>
            <a:chOff x="0" y="0"/>
            <a:chExt cx="512526" cy="49346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12526" cy="493461"/>
            </a:xfrm>
            <a:custGeom>
              <a:avLst/>
              <a:gdLst/>
              <a:ahLst/>
              <a:cxnLst/>
              <a:rect r="r" b="b" t="t" l="l"/>
              <a:pathLst>
                <a:path h="493461" w="512526">
                  <a:moveTo>
                    <a:pt x="0" y="0"/>
                  </a:moveTo>
                  <a:lnTo>
                    <a:pt x="512526" y="0"/>
                  </a:lnTo>
                  <a:lnTo>
                    <a:pt x="512526" y="493461"/>
                  </a:lnTo>
                  <a:lnTo>
                    <a:pt x="0" y="4934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512526" cy="5696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210 옴니고딕"/>
                  <a:ea typeface="210 옴니고딕"/>
                  <a:cs typeface="210 옴니고딕"/>
                  <a:sym typeface="210 옴니고딕"/>
                </a:rPr>
                <a:t>4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388726" y="9331745"/>
            <a:ext cx="4870574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SWOT 분석 | 9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414100" y="1292002"/>
            <a:ext cx="11459799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시장 분석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2500" y="4423701"/>
            <a:ext cx="5874027" cy="1192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68"/>
              </a:lnSpc>
            </a:pPr>
            <a:r>
              <a:rPr lang="en-US" sz="2400" spc="-86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빨래들 사이에 빨래를 널 때</a:t>
            </a:r>
          </a:p>
          <a:p>
            <a:pPr algn="r">
              <a:lnSpc>
                <a:spcPts val="3168"/>
              </a:lnSpc>
            </a:pPr>
            <a:r>
              <a:rPr lang="en-US" sz="2400" spc="-86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건조대의 흔들림</a:t>
            </a:r>
          </a:p>
          <a:p>
            <a:pPr algn="r">
              <a:lnSpc>
                <a:spcPts val="3168"/>
              </a:lnSpc>
            </a:pPr>
            <a:r>
              <a:rPr lang="en-US" sz="2400" spc="-86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건조대의 높낮이가 맞지 않음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414100" y="3720809"/>
            <a:ext cx="3488626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20"/>
              </a:lnSpc>
              <a:spcBef>
                <a:spcPct val="0"/>
              </a:spcBef>
            </a:pPr>
            <a:r>
              <a:rPr lang="en-US" sz="2800" spc="-100">
                <a:solidFill>
                  <a:srgbClr val="8C52FF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빨래를 널 때 불편한 점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382297" y="3787484"/>
            <a:ext cx="5877003" cy="1783122"/>
            <a:chOff x="0" y="0"/>
            <a:chExt cx="7836004" cy="2377496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797489"/>
              <a:ext cx="7836004" cy="15800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68"/>
                </a:lnSpc>
              </a:pPr>
              <a:r>
                <a:rPr lang="en-US" sz="2400" spc="-86">
                  <a:solidFill>
                    <a:srgbClr val="000000"/>
                  </a:solidFill>
                  <a:latin typeface="210 옴니고딕"/>
                  <a:ea typeface="210 옴니고딕"/>
                  <a:cs typeface="210 옴니고딕"/>
                  <a:sym typeface="210 옴니고딕"/>
                </a:rPr>
                <a:t>이동 동선 방해</a:t>
              </a:r>
            </a:p>
            <a:p>
              <a:pPr algn="l">
                <a:lnSpc>
                  <a:spcPts val="3168"/>
                </a:lnSpc>
              </a:pPr>
              <a:r>
                <a:rPr lang="en-US" sz="2400" spc="-86">
                  <a:solidFill>
                    <a:srgbClr val="000000"/>
                  </a:solidFill>
                  <a:latin typeface="210 옴니고딕"/>
                  <a:ea typeface="210 옴니고딕"/>
                  <a:cs typeface="210 옴니고딕"/>
                  <a:sym typeface="210 옴니고딕"/>
                </a:rPr>
                <a:t>베란다 공간이 좁음</a:t>
              </a:r>
            </a:p>
            <a:p>
              <a:pPr algn="l">
                <a:lnSpc>
                  <a:spcPts val="3168"/>
                </a:lnSpc>
              </a:pPr>
              <a:r>
                <a:rPr lang="en-US" sz="2400" spc="-86">
                  <a:solidFill>
                    <a:srgbClr val="000000"/>
                  </a:solidFill>
                  <a:latin typeface="210 옴니고딕"/>
                  <a:ea typeface="210 옴니고딕"/>
                  <a:cs typeface="210 옴니고딕"/>
                  <a:sym typeface="210 옴니고딕"/>
                </a:rPr>
                <a:t>창문/문과 간섭 발생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-66675"/>
              <a:ext cx="4409243" cy="632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20"/>
                </a:lnSpc>
                <a:spcBef>
                  <a:spcPct val="0"/>
                </a:spcBef>
              </a:pPr>
              <a:r>
                <a:rPr lang="en-US" sz="2800" spc="-100">
                  <a:solidFill>
                    <a:srgbClr val="8C52FF"/>
                  </a:solidFill>
                  <a:latin typeface="210 옴니고딕"/>
                  <a:ea typeface="210 옴니고딕"/>
                  <a:cs typeface="210 옴니고딕"/>
                  <a:sym typeface="210 옴니고딕"/>
                </a:rPr>
                <a:t>건조대 설치 제약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28700" y="6042095"/>
            <a:ext cx="5874027" cy="1783122"/>
            <a:chOff x="0" y="0"/>
            <a:chExt cx="7832036" cy="2377496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0" y="797489"/>
              <a:ext cx="7832036" cy="15800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168"/>
                </a:lnSpc>
              </a:pPr>
              <a:r>
                <a:rPr lang="en-US" sz="2400" spc="-86">
                  <a:solidFill>
                    <a:srgbClr val="000000"/>
                  </a:solidFill>
                  <a:latin typeface="210 옴니고딕"/>
                  <a:ea typeface="210 옴니고딕"/>
                  <a:cs typeface="210 옴니고딕"/>
                  <a:sym typeface="210 옴니고딕"/>
                </a:rPr>
                <a:t>키 160cm 이하 사용자가 있음</a:t>
              </a:r>
            </a:p>
            <a:p>
              <a:pPr algn="r">
                <a:lnSpc>
                  <a:spcPts val="3168"/>
                </a:lnSpc>
              </a:pPr>
              <a:r>
                <a:rPr lang="en-US" sz="2400" spc="-86">
                  <a:solidFill>
                    <a:srgbClr val="000000"/>
                  </a:solidFill>
                  <a:latin typeface="210 옴니고딕"/>
                  <a:ea typeface="210 옴니고딕"/>
                  <a:cs typeface="210 옴니고딕"/>
                  <a:sym typeface="210 옴니고딕"/>
                </a:rPr>
                <a:t>노약자/임산부/어깨 통증자</a:t>
              </a:r>
            </a:p>
            <a:p>
              <a:pPr algn="r">
                <a:lnSpc>
                  <a:spcPts val="3168"/>
                </a:lnSpc>
              </a:pPr>
              <a:r>
                <a:rPr lang="en-US" sz="2400" spc="-86">
                  <a:solidFill>
                    <a:srgbClr val="000000"/>
                  </a:solidFill>
                  <a:latin typeface="210 옴니고딕"/>
                  <a:ea typeface="210 옴니고딕"/>
                  <a:cs typeface="210 옴니고딕"/>
                  <a:sym typeface="210 옴니고딕"/>
                </a:rPr>
                <a:t>어린이 안전 우려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3425025" y="-66675"/>
              <a:ext cx="4407010" cy="632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20"/>
                </a:lnSpc>
                <a:spcBef>
                  <a:spcPct val="0"/>
                </a:spcBef>
              </a:pPr>
              <a:r>
                <a:rPr lang="en-US" sz="2800" spc="-100">
                  <a:solidFill>
                    <a:srgbClr val="8C52FF"/>
                  </a:solidFill>
                  <a:latin typeface="210 옴니고딕"/>
                  <a:ea typeface="210 옴니고딕"/>
                  <a:cs typeface="210 옴니고딕"/>
                  <a:sym typeface="210 옴니고딕"/>
                </a:rPr>
                <a:t>가구 내 사용자 특성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1461473" y="6633068"/>
            <a:ext cx="5877003" cy="1192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2400" spc="-86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높은 가격</a:t>
            </a:r>
          </a:p>
          <a:p>
            <a:pPr algn="l">
              <a:lnSpc>
                <a:spcPts val="3168"/>
              </a:lnSpc>
            </a:pPr>
            <a:r>
              <a:rPr lang="en-US" sz="2400" spc="-86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설치 난이도</a:t>
            </a:r>
          </a:p>
          <a:p>
            <a:pPr algn="l">
              <a:lnSpc>
                <a:spcPts val="3168"/>
              </a:lnSpc>
            </a:pPr>
            <a:r>
              <a:rPr lang="en-US" sz="2400" spc="-86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작동 속도/소음 및 진동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382297" y="5975420"/>
            <a:ext cx="4072273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 spc="-100">
                <a:solidFill>
                  <a:srgbClr val="8C52FF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아이디어의 예상되는 문제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8700" y="9322220"/>
            <a:ext cx="4870574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2025년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08685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9045606" y="930306"/>
            <a:ext cx="196788" cy="19678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917329" y="3014926"/>
            <a:ext cx="4453342" cy="5673120"/>
            <a:chOff x="0" y="0"/>
            <a:chExt cx="1172897" cy="14941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2897" cy="1494155"/>
            </a:xfrm>
            <a:custGeom>
              <a:avLst/>
              <a:gdLst/>
              <a:ahLst/>
              <a:cxnLst/>
              <a:rect r="r" b="b" t="t" l="l"/>
              <a:pathLst>
                <a:path h="1494155" w="1172897">
                  <a:moveTo>
                    <a:pt x="0" y="0"/>
                  </a:moveTo>
                  <a:lnTo>
                    <a:pt x="1172897" y="0"/>
                  </a:lnTo>
                  <a:lnTo>
                    <a:pt x="1172897" y="1494155"/>
                  </a:lnTo>
                  <a:lnTo>
                    <a:pt x="0" y="14941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1172897" cy="1570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70785" y="2927955"/>
            <a:ext cx="4453342" cy="5673120"/>
            <a:chOff x="0" y="0"/>
            <a:chExt cx="1172897" cy="149415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72897" cy="1494155"/>
            </a:xfrm>
            <a:custGeom>
              <a:avLst/>
              <a:gdLst/>
              <a:ahLst/>
              <a:cxnLst/>
              <a:rect r="r" b="b" t="t" l="l"/>
              <a:pathLst>
                <a:path h="1494155" w="1172897">
                  <a:moveTo>
                    <a:pt x="0" y="0"/>
                  </a:moveTo>
                  <a:lnTo>
                    <a:pt x="1172897" y="0"/>
                  </a:lnTo>
                  <a:lnTo>
                    <a:pt x="1172897" y="1494155"/>
                  </a:lnTo>
                  <a:lnTo>
                    <a:pt x="0" y="14941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1172897" cy="1570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161310" y="3196364"/>
            <a:ext cx="4272292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spc="-100">
                <a:solidFill>
                  <a:srgbClr val="8C52FF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높이 조절이 가능한</a:t>
            </a:r>
          </a:p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spc="-100">
                <a:solidFill>
                  <a:srgbClr val="8C52FF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빨래 건조대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32153" y="7698645"/>
            <a:ext cx="3749694" cy="67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000" spc="-72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https://doi.org/10.8080/2020010019422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007854" y="3253490"/>
            <a:ext cx="4272292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spc="-100">
                <a:solidFill>
                  <a:srgbClr val="8C52FF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천장형 자동</a:t>
            </a:r>
          </a:p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spc="-100">
                <a:solidFill>
                  <a:srgbClr val="8C52FF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빨래 건조대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272606" y="7785616"/>
            <a:ext cx="3742787" cy="1005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1996" spc="-71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https://doi.org/10.8080/1020220095089</a:t>
            </a:r>
          </a:p>
          <a:p>
            <a:pPr algn="l">
              <a:lnSpc>
                <a:spcPts val="2635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2388726" y="9331745"/>
            <a:ext cx="4870574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기대 효과 | 10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414100" y="1292002"/>
            <a:ext cx="11459799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제품성 분석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9322220"/>
            <a:ext cx="4870574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2025년</a:t>
            </a:r>
          </a:p>
        </p:txBody>
      </p: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1641697" y="4516566"/>
            <a:ext cx="3530606" cy="3126979"/>
            <a:chOff x="0" y="0"/>
            <a:chExt cx="8691490" cy="769785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691499" cy="7697851"/>
            </a:xfrm>
            <a:custGeom>
              <a:avLst/>
              <a:gdLst/>
              <a:ahLst/>
              <a:cxnLst/>
              <a:rect r="r" b="b" t="t" l="l"/>
              <a:pathLst>
                <a:path h="7697851" w="8691499">
                  <a:moveTo>
                    <a:pt x="0" y="0"/>
                  </a:moveTo>
                  <a:lnTo>
                    <a:pt x="8691499" y="0"/>
                  </a:lnTo>
                  <a:lnTo>
                    <a:pt x="8691499" y="7697851"/>
                  </a:lnTo>
                  <a:lnTo>
                    <a:pt x="0" y="76978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7312141" y="4738960"/>
            <a:ext cx="3703253" cy="2856134"/>
          </a:xfrm>
          <a:custGeom>
            <a:avLst/>
            <a:gdLst/>
            <a:ahLst/>
            <a:cxnLst/>
            <a:rect r="r" b="b" t="t" l="l"/>
            <a:pathLst>
              <a:path h="2856134" w="3703253">
                <a:moveTo>
                  <a:pt x="0" y="0"/>
                </a:moveTo>
                <a:lnTo>
                  <a:pt x="3703253" y="0"/>
                </a:lnTo>
                <a:lnTo>
                  <a:pt x="3703253" y="2856134"/>
                </a:lnTo>
                <a:lnTo>
                  <a:pt x="0" y="28561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2622133" y="3014926"/>
            <a:ext cx="4422820" cy="5571447"/>
            <a:chOff x="0" y="0"/>
            <a:chExt cx="1186116" cy="149415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86116" cy="1494155"/>
            </a:xfrm>
            <a:custGeom>
              <a:avLst/>
              <a:gdLst/>
              <a:ahLst/>
              <a:cxnLst/>
              <a:rect r="r" b="b" t="t" l="l"/>
              <a:pathLst>
                <a:path h="1494155" w="1186116">
                  <a:moveTo>
                    <a:pt x="0" y="0"/>
                  </a:moveTo>
                  <a:lnTo>
                    <a:pt x="1186116" y="0"/>
                  </a:lnTo>
                  <a:lnTo>
                    <a:pt x="1186116" y="1494155"/>
                  </a:lnTo>
                  <a:lnTo>
                    <a:pt x="0" y="14941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76200"/>
              <a:ext cx="1186116" cy="1570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2712038" y="3248019"/>
            <a:ext cx="4243011" cy="969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9"/>
              </a:lnSpc>
            </a:pPr>
            <a:r>
              <a:rPr lang="en-US" sz="2749" spc="-98">
                <a:solidFill>
                  <a:srgbClr val="8C52FF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협소한 공간용</a:t>
            </a:r>
          </a:p>
          <a:p>
            <a:pPr algn="ctr">
              <a:lnSpc>
                <a:spcPts val="3849"/>
              </a:lnSpc>
              <a:spcBef>
                <a:spcPct val="0"/>
              </a:spcBef>
            </a:pPr>
            <a:r>
              <a:rPr lang="en-US" sz="2749" spc="-98">
                <a:solidFill>
                  <a:srgbClr val="8C52FF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접이식 빨래 건조대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974976" y="7699434"/>
            <a:ext cx="3717135" cy="988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1960" spc="-70" u="sng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  <a:hlinkClick r:id="rId4" tooltip="https://doi.org/10.8080/1020170171336"/>
              </a:rPr>
              <a:t>https://doi.org/10.8080/1020220095089</a:t>
            </a:r>
          </a:p>
          <a:p>
            <a:pPr algn="l">
              <a:lnSpc>
                <a:spcPts val="2587"/>
              </a:lnSpc>
            </a:pPr>
          </a:p>
        </p:txBody>
      </p:sp>
      <p:grpSp>
        <p:nvGrpSpPr>
          <p:cNvPr name="Group 27" id="27"/>
          <p:cNvGrpSpPr>
            <a:grpSpLocks noChangeAspect="true"/>
          </p:cNvGrpSpPr>
          <p:nvPr/>
        </p:nvGrpSpPr>
        <p:grpSpPr>
          <a:xfrm rot="0">
            <a:off x="13366576" y="4291418"/>
            <a:ext cx="3069852" cy="3269173"/>
            <a:chOff x="0" y="0"/>
            <a:chExt cx="6966542" cy="741887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966585" cy="7418832"/>
            </a:xfrm>
            <a:custGeom>
              <a:avLst/>
              <a:gdLst/>
              <a:ahLst/>
              <a:cxnLst/>
              <a:rect r="r" b="b" t="t" l="l"/>
              <a:pathLst>
                <a:path h="7418832" w="6966585">
                  <a:moveTo>
                    <a:pt x="0" y="0"/>
                  </a:moveTo>
                  <a:lnTo>
                    <a:pt x="6966585" y="0"/>
                  </a:lnTo>
                  <a:lnTo>
                    <a:pt x="6966585" y="7418832"/>
                  </a:lnTo>
                  <a:lnTo>
                    <a:pt x="0" y="7418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5473" r="0" b="-35473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08685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9045606" y="930306"/>
            <a:ext cx="196788" cy="19678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826804" y="2927955"/>
            <a:ext cx="4453342" cy="5673120"/>
            <a:chOff x="0" y="0"/>
            <a:chExt cx="1172897" cy="14941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2897" cy="1494155"/>
            </a:xfrm>
            <a:custGeom>
              <a:avLst/>
              <a:gdLst/>
              <a:ahLst/>
              <a:cxnLst/>
              <a:rect r="r" b="b" t="t" l="l"/>
              <a:pathLst>
                <a:path h="1494155" w="1172897">
                  <a:moveTo>
                    <a:pt x="0" y="0"/>
                  </a:moveTo>
                  <a:lnTo>
                    <a:pt x="1172897" y="0"/>
                  </a:lnTo>
                  <a:lnTo>
                    <a:pt x="1172897" y="1494155"/>
                  </a:lnTo>
                  <a:lnTo>
                    <a:pt x="0" y="14941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1172897" cy="1570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70785" y="2927955"/>
            <a:ext cx="4453342" cy="5673120"/>
            <a:chOff x="0" y="0"/>
            <a:chExt cx="1172897" cy="149415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72897" cy="1494155"/>
            </a:xfrm>
            <a:custGeom>
              <a:avLst/>
              <a:gdLst/>
              <a:ahLst/>
              <a:cxnLst/>
              <a:rect r="r" b="b" t="t" l="l"/>
              <a:pathLst>
                <a:path h="1494155" w="1172897">
                  <a:moveTo>
                    <a:pt x="0" y="0"/>
                  </a:moveTo>
                  <a:lnTo>
                    <a:pt x="1172897" y="0"/>
                  </a:lnTo>
                  <a:lnTo>
                    <a:pt x="1172897" y="1494155"/>
                  </a:lnTo>
                  <a:lnTo>
                    <a:pt x="0" y="14941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1172897" cy="1570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161310" y="3466484"/>
            <a:ext cx="4272292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spc="-100">
                <a:solidFill>
                  <a:srgbClr val="8C52FF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자동으로 높낮이 조절이</a:t>
            </a:r>
          </a:p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spc="-100">
                <a:solidFill>
                  <a:srgbClr val="8C52FF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가능한 빨래 건조대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007854" y="3253490"/>
            <a:ext cx="4272292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spc="-100">
                <a:solidFill>
                  <a:srgbClr val="8C52FF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상하로 길이가</a:t>
            </a:r>
          </a:p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spc="-100">
                <a:solidFill>
                  <a:srgbClr val="8C52FF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조절되는 방식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268554" y="5408866"/>
            <a:ext cx="3742787" cy="2004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1996" spc="-71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상하로 길이가 조절되므로</a:t>
            </a:r>
          </a:p>
          <a:p>
            <a:pPr algn="l">
              <a:lnSpc>
                <a:spcPts val="2635"/>
              </a:lnSpc>
            </a:pPr>
            <a:r>
              <a:rPr lang="en-US" sz="1996" spc="-71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좁은 공간에서도 사용이 가능</a:t>
            </a:r>
          </a:p>
          <a:p>
            <a:pPr algn="l">
              <a:lnSpc>
                <a:spcPts val="2635"/>
              </a:lnSpc>
            </a:pPr>
          </a:p>
          <a:p>
            <a:pPr algn="l">
              <a:lnSpc>
                <a:spcPts val="2635"/>
              </a:lnSpc>
            </a:pPr>
          </a:p>
          <a:p>
            <a:pPr algn="l">
              <a:lnSpc>
                <a:spcPts val="2635"/>
              </a:lnSpc>
            </a:pPr>
            <a:r>
              <a:rPr lang="en-US" sz="1996" spc="-71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키, 신체적인 불편함에 상관없이</a:t>
            </a:r>
          </a:p>
          <a:p>
            <a:pPr algn="l">
              <a:lnSpc>
                <a:spcPts val="2635"/>
              </a:lnSpc>
            </a:pPr>
            <a:r>
              <a:rPr lang="en-US" sz="1996" spc="-71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누구나 사용 가능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388726" y="9331745"/>
            <a:ext cx="4870574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기대 효과 | 10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414100" y="1292002"/>
            <a:ext cx="11459799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AIRLIFT만의 장점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9322220"/>
            <a:ext cx="4870574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2025년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388726" y="2927955"/>
            <a:ext cx="4503532" cy="5673120"/>
            <a:chOff x="0" y="0"/>
            <a:chExt cx="1186116" cy="149415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86116" cy="1494155"/>
            </a:xfrm>
            <a:custGeom>
              <a:avLst/>
              <a:gdLst/>
              <a:ahLst/>
              <a:cxnLst/>
              <a:rect r="r" b="b" t="t" l="l"/>
              <a:pathLst>
                <a:path h="1494155" w="1186116">
                  <a:moveTo>
                    <a:pt x="0" y="0"/>
                  </a:moveTo>
                  <a:lnTo>
                    <a:pt x="1186116" y="0"/>
                  </a:lnTo>
                  <a:lnTo>
                    <a:pt x="1186116" y="1494155"/>
                  </a:lnTo>
                  <a:lnTo>
                    <a:pt x="0" y="14941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76200"/>
              <a:ext cx="1186116" cy="1570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2480271" y="3166519"/>
            <a:ext cx="4320442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spc="-100">
                <a:solidFill>
                  <a:srgbClr val="8C52FF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꼭 필요한 건조대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894304" y="5337107"/>
            <a:ext cx="3784969" cy="2669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1996" spc="-71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건조기가 널리 사용되고 있음에도</a:t>
            </a:r>
          </a:p>
          <a:p>
            <a:pPr algn="l">
              <a:lnSpc>
                <a:spcPts val="2635"/>
              </a:lnSpc>
            </a:pPr>
            <a:r>
              <a:rPr lang="en-US" sz="1996" spc="-71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건조대는 생활의 필수품</a:t>
            </a:r>
          </a:p>
          <a:p>
            <a:pPr algn="l">
              <a:lnSpc>
                <a:spcPts val="2635"/>
              </a:lnSpc>
            </a:pPr>
          </a:p>
          <a:p>
            <a:pPr algn="l">
              <a:lnSpc>
                <a:spcPts val="2635"/>
              </a:lnSpc>
            </a:pPr>
          </a:p>
          <a:p>
            <a:pPr algn="l">
              <a:lnSpc>
                <a:spcPts val="2635"/>
              </a:lnSpc>
            </a:pPr>
            <a:r>
              <a:rPr lang="en-US" sz="1996" spc="-71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건조기 사용 불가 빨래</a:t>
            </a:r>
          </a:p>
          <a:p>
            <a:pPr algn="l">
              <a:lnSpc>
                <a:spcPts val="2635"/>
              </a:lnSpc>
            </a:pPr>
            <a:r>
              <a:rPr lang="en-US" sz="1996" spc="-71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-의류 손상, 고온 시 화재로 이어지는 소재의 의류</a:t>
            </a:r>
          </a:p>
          <a:p>
            <a:pPr algn="l">
              <a:lnSpc>
                <a:spcPts val="2635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542707" y="5408866"/>
            <a:ext cx="3742787" cy="2669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1996" spc="-71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스위치를 발로 밟는 방식을</a:t>
            </a:r>
          </a:p>
          <a:p>
            <a:pPr algn="l">
              <a:lnSpc>
                <a:spcPts val="2635"/>
              </a:lnSpc>
            </a:pPr>
            <a:r>
              <a:rPr lang="en-US" sz="1996" spc="-71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통하여 높낮이를 자동으로 조절</a:t>
            </a:r>
          </a:p>
          <a:p>
            <a:pPr algn="l">
              <a:lnSpc>
                <a:spcPts val="2635"/>
              </a:lnSpc>
            </a:pPr>
          </a:p>
          <a:p>
            <a:pPr algn="l">
              <a:lnSpc>
                <a:spcPts val="2635"/>
              </a:lnSpc>
            </a:pPr>
          </a:p>
          <a:p>
            <a:pPr algn="l">
              <a:lnSpc>
                <a:spcPts val="2635"/>
              </a:lnSpc>
            </a:pPr>
            <a:r>
              <a:rPr lang="en-US" sz="1996" spc="-71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사용자는 서있는 상태에서 허리를  숙일 필요 없이 세탁물 정리 가능</a:t>
            </a:r>
          </a:p>
          <a:p>
            <a:pPr algn="l">
              <a:lnSpc>
                <a:spcPts val="2635"/>
              </a:lnSpc>
            </a:pPr>
          </a:p>
          <a:p>
            <a:pPr algn="l">
              <a:lnSpc>
                <a:spcPts val="2635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45606" y="3145110"/>
            <a:ext cx="196788" cy="19678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028700" y="9086850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2388726" y="9322220"/>
            <a:ext cx="4870574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심플한 프로젝트 제안서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154155" y="6276693"/>
            <a:ext cx="355727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창의제품설계 2분반 5조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74461" y="5342374"/>
            <a:ext cx="5249552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"따로 보면 오합지졸, 합쳐 보면 오합지존"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14141" y="3343982"/>
            <a:ext cx="5859719" cy="58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감사합니다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9322220"/>
            <a:ext cx="4870574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210 옴니고딕"/>
                <a:ea typeface="210 옴니고딕"/>
                <a:cs typeface="210 옴니고딕"/>
                <a:sym typeface="210 옴니고딕"/>
              </a:rPr>
              <a:t>2025년</a:t>
            </a:r>
          </a:p>
        </p:txBody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0329199" y="5945032"/>
            <a:ext cx="3489320" cy="2298567"/>
            <a:chOff x="0" y="0"/>
            <a:chExt cx="6015088" cy="3962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015101" cy="3962400"/>
            </a:xfrm>
            <a:custGeom>
              <a:avLst/>
              <a:gdLst/>
              <a:ahLst/>
              <a:cxnLst/>
              <a:rect r="r" b="b" t="t" l="l"/>
              <a:pathLst>
                <a:path h="3962400" w="6015101">
                  <a:moveTo>
                    <a:pt x="0" y="0"/>
                  </a:moveTo>
                  <a:lnTo>
                    <a:pt x="6015101" y="0"/>
                  </a:lnTo>
                  <a:lnTo>
                    <a:pt x="6015101" y="3962400"/>
                  </a:lnTo>
                  <a:lnTo>
                    <a:pt x="0" y="396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655" t="0" r="-9655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DAG0iEvS2Sw</dc:identifier>
  <dcterms:modified xsi:type="dcterms:W3CDTF">2011-08-01T06:04:30Z</dcterms:modified>
  <cp:revision>1</cp:revision>
  <dc:title>시험용</dc:title>
</cp:coreProperties>
</file>